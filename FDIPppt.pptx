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ags/tag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8" r:id="rId3"/>
    <p:sldId id="260" r:id="rId4"/>
    <p:sldId id="265" r:id="rId5"/>
    <p:sldId id="267" r:id="rId6"/>
    <p:sldId id="266" r:id="rId7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54" d="100"/>
          <a:sy n="54" d="100"/>
        </p:scale>
        <p:origin x="100" y="46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3810"/>
            <a:ext cx="18212493" cy="10283188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0" y="3808"/>
            <a:ext cx="803275" cy="10283190"/>
          </a:xfrm>
          <a:custGeom>
            <a:avLst/>
            <a:gdLst/>
            <a:ahLst/>
            <a:cxnLst/>
            <a:rect l="l" t="t" r="r" b="b"/>
            <a:pathLst>
              <a:path w="803275" h="10283190">
                <a:moveTo>
                  <a:pt x="803148" y="10282998"/>
                </a:moveTo>
                <a:lnTo>
                  <a:pt x="0" y="10282998"/>
                </a:lnTo>
                <a:lnTo>
                  <a:pt x="0" y="0"/>
                </a:lnTo>
                <a:lnTo>
                  <a:pt x="803148" y="0"/>
                </a:lnTo>
                <a:lnTo>
                  <a:pt x="803148" y="10282998"/>
                </a:lnTo>
                <a:close/>
              </a:path>
            </a:pathLst>
          </a:custGeom>
          <a:solidFill>
            <a:srgbClr val="583C8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127125" y="183513"/>
            <a:ext cx="2765425" cy="939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0" b="0" i="0">
                <a:solidFill>
                  <a:schemeClr val="tx1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tx1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888888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pPr marL="12700">
              <a:lnSpc>
                <a:spcPts val="1810"/>
              </a:lnSpc>
            </a:pPr>
            <a:r>
              <a:rPr spc="-50" dirty="0"/>
              <a:t>1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000" b="0" i="0">
                <a:solidFill>
                  <a:schemeClr val="tx1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chemeClr val="tx1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888888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pPr marL="12700">
              <a:lnSpc>
                <a:spcPts val="1810"/>
              </a:lnSpc>
            </a:pPr>
            <a:r>
              <a:rPr spc="-50" dirty="0"/>
              <a:t>1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000" b="0" i="0">
                <a:solidFill>
                  <a:schemeClr val="tx1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888888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pPr marL="12700">
              <a:lnSpc>
                <a:spcPts val="1810"/>
              </a:lnSpc>
            </a:pPr>
            <a:r>
              <a:rPr spc="-50" dirty="0"/>
              <a:t>1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10/9/2025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3810"/>
            <a:ext cx="18212493" cy="10283188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0" y="3808"/>
            <a:ext cx="803275" cy="10283190"/>
          </a:xfrm>
          <a:custGeom>
            <a:avLst/>
            <a:gdLst/>
            <a:ahLst/>
            <a:cxnLst/>
            <a:rect l="l" t="t" r="r" b="b"/>
            <a:pathLst>
              <a:path w="803275" h="10283190">
                <a:moveTo>
                  <a:pt x="803148" y="10282998"/>
                </a:moveTo>
                <a:lnTo>
                  <a:pt x="0" y="10282998"/>
                </a:lnTo>
                <a:lnTo>
                  <a:pt x="0" y="0"/>
                </a:lnTo>
                <a:lnTo>
                  <a:pt x="803148" y="0"/>
                </a:lnTo>
                <a:lnTo>
                  <a:pt x="803148" y="10282998"/>
                </a:lnTo>
                <a:close/>
              </a:path>
            </a:pathLst>
          </a:custGeom>
          <a:solidFill>
            <a:srgbClr val="583C8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000" b="0" i="0">
                <a:solidFill>
                  <a:schemeClr val="tx1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888888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pPr marL="12700">
              <a:lnSpc>
                <a:spcPts val="1810"/>
              </a:lnSpc>
            </a:pPr>
            <a:r>
              <a:rPr spc="-50" dirty="0"/>
              <a:t>1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10/9/2025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3810"/>
            <a:ext cx="18212493" cy="10283188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3808"/>
            <a:ext cx="18187912" cy="10283188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0" y="3808"/>
            <a:ext cx="803275" cy="10283190"/>
          </a:xfrm>
          <a:custGeom>
            <a:avLst/>
            <a:gdLst/>
            <a:ahLst/>
            <a:cxnLst/>
            <a:rect l="l" t="t" r="r" b="b"/>
            <a:pathLst>
              <a:path w="803275" h="10283190">
                <a:moveTo>
                  <a:pt x="803148" y="10282998"/>
                </a:moveTo>
                <a:lnTo>
                  <a:pt x="0" y="10282998"/>
                </a:lnTo>
                <a:lnTo>
                  <a:pt x="0" y="0"/>
                </a:lnTo>
                <a:lnTo>
                  <a:pt x="803148" y="0"/>
                </a:lnTo>
                <a:lnTo>
                  <a:pt x="803148" y="10282998"/>
                </a:lnTo>
                <a:close/>
              </a:path>
            </a:pathLst>
          </a:custGeom>
          <a:solidFill>
            <a:srgbClr val="583C8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9" name="bg object 1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28700" y="335672"/>
            <a:ext cx="1744510" cy="174451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888888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pPr marL="12700">
              <a:lnSpc>
                <a:spcPts val="1810"/>
              </a:lnSpc>
            </a:pPr>
            <a:r>
              <a:rPr spc="-50" dirty="0"/>
              <a:t>1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10/9/2025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3810"/>
            <a:ext cx="18212493" cy="10283188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127125" y="183513"/>
            <a:ext cx="6223000" cy="939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0" b="0" i="0">
                <a:solidFill>
                  <a:schemeClr val="tx1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440065" y="2431397"/>
            <a:ext cx="14493875" cy="24834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tx1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16778312" y="9732297"/>
            <a:ext cx="141605" cy="254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rgbClr val="888888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pPr marL="12700">
              <a:lnSpc>
                <a:spcPts val="1810"/>
              </a:lnSpc>
            </a:pPr>
            <a:r>
              <a:rPr spc="-50" dirty="0"/>
              <a:t>1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546985" y="211455"/>
            <a:ext cx="13615670" cy="8081645"/>
          </a:xfrm>
          <a:prstGeom prst="rect">
            <a:avLst/>
          </a:prstGeom>
        </p:spPr>
        <p:txBody>
          <a:bodyPr vert="horz" wrap="square" lIns="0" tIns="64769" rIns="0" bIns="0" rtlCol="0">
            <a:noAutofit/>
          </a:bodyPr>
          <a:lstStyle/>
          <a:p>
            <a:pPr marL="883285" algn="ctr">
              <a:lnSpc>
                <a:spcPct val="100000"/>
              </a:lnSpc>
              <a:spcBef>
                <a:spcPts val="510"/>
              </a:spcBef>
            </a:pPr>
            <a:r>
              <a:rPr sz="2200" dirty="0">
                <a:latin typeface="Arial MT"/>
                <a:cs typeface="Arial MT"/>
              </a:rPr>
              <a:t>Pimpri</a:t>
            </a:r>
            <a:r>
              <a:rPr sz="2200" spc="-7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Chinchwad</a:t>
            </a:r>
            <a:r>
              <a:rPr sz="2200" spc="-70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Education</a:t>
            </a:r>
            <a:r>
              <a:rPr sz="2200" spc="-10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Trust’s</a:t>
            </a:r>
            <a:endParaRPr sz="2200" dirty="0">
              <a:latin typeface="Arial MT"/>
              <a:cs typeface="Arial MT"/>
            </a:endParaRPr>
          </a:p>
          <a:p>
            <a:pPr marL="871855" algn="ctr">
              <a:lnSpc>
                <a:spcPct val="100000"/>
              </a:lnSpc>
              <a:spcBef>
                <a:spcPts val="510"/>
              </a:spcBef>
            </a:pPr>
            <a:r>
              <a:rPr sz="2700" b="1" dirty="0">
                <a:latin typeface="Arial" panose="020B0604020202020204"/>
                <a:cs typeface="Arial" panose="020B0604020202020204"/>
              </a:rPr>
              <a:t>Pimpri</a:t>
            </a:r>
            <a:r>
              <a:rPr sz="2700" b="1" spc="-50" dirty="0">
                <a:latin typeface="Arial" panose="020B0604020202020204"/>
                <a:cs typeface="Arial" panose="020B0604020202020204"/>
              </a:rPr>
              <a:t> </a:t>
            </a:r>
            <a:r>
              <a:rPr sz="2700" b="1" dirty="0">
                <a:latin typeface="Arial" panose="020B0604020202020204"/>
                <a:cs typeface="Arial" panose="020B0604020202020204"/>
              </a:rPr>
              <a:t>Chinchwad</a:t>
            </a:r>
            <a:r>
              <a:rPr sz="2700" b="1" spc="-45" dirty="0">
                <a:latin typeface="Arial" panose="020B0604020202020204"/>
                <a:cs typeface="Arial" panose="020B0604020202020204"/>
              </a:rPr>
              <a:t> </a:t>
            </a:r>
            <a:r>
              <a:rPr sz="2700" b="1" dirty="0">
                <a:latin typeface="Arial" panose="020B0604020202020204"/>
                <a:cs typeface="Arial" panose="020B0604020202020204"/>
              </a:rPr>
              <a:t>College</a:t>
            </a:r>
            <a:r>
              <a:rPr sz="2700" b="1" spc="-45" dirty="0">
                <a:latin typeface="Arial" panose="020B0604020202020204"/>
                <a:cs typeface="Arial" panose="020B0604020202020204"/>
              </a:rPr>
              <a:t> </a:t>
            </a:r>
            <a:r>
              <a:rPr sz="2700" b="1" dirty="0">
                <a:latin typeface="Arial" panose="020B0604020202020204"/>
                <a:cs typeface="Arial" panose="020B0604020202020204"/>
              </a:rPr>
              <a:t>of</a:t>
            </a:r>
            <a:r>
              <a:rPr sz="2700" b="1" spc="-45" dirty="0">
                <a:latin typeface="Arial" panose="020B0604020202020204"/>
                <a:cs typeface="Arial" panose="020B0604020202020204"/>
              </a:rPr>
              <a:t> </a:t>
            </a:r>
            <a:r>
              <a:rPr sz="2700" b="1" dirty="0">
                <a:latin typeface="Arial" panose="020B0604020202020204"/>
                <a:cs typeface="Arial" panose="020B0604020202020204"/>
              </a:rPr>
              <a:t>Engineering</a:t>
            </a:r>
            <a:r>
              <a:rPr sz="2700" b="1" spc="-45" dirty="0">
                <a:latin typeface="Arial" panose="020B0604020202020204"/>
                <a:cs typeface="Arial" panose="020B0604020202020204"/>
              </a:rPr>
              <a:t> </a:t>
            </a:r>
            <a:r>
              <a:rPr sz="2700" b="1" spc="-20" dirty="0">
                <a:latin typeface="Arial" panose="020B0604020202020204"/>
                <a:cs typeface="Arial" panose="020B0604020202020204"/>
              </a:rPr>
              <a:t>(</a:t>
            </a:r>
            <a:r>
              <a:rPr sz="2700" b="1" spc="-20" dirty="0" err="1">
                <a:latin typeface="Arial" panose="020B0604020202020204"/>
                <a:cs typeface="Arial" panose="020B0604020202020204"/>
              </a:rPr>
              <a:t>PCCoE</a:t>
            </a:r>
            <a:r>
              <a:rPr sz="2700" b="1" spc="-20">
                <a:latin typeface="Arial" panose="020B0604020202020204"/>
                <a:cs typeface="Arial" panose="020B0604020202020204"/>
              </a:rPr>
              <a:t>)</a:t>
            </a:r>
            <a:endParaRPr sz="2700" dirty="0">
              <a:latin typeface="Arial" panose="020B0604020202020204"/>
              <a:cs typeface="Arial" panose="020B0604020202020204"/>
            </a:endParaRPr>
          </a:p>
          <a:p>
            <a:pPr marL="883285" algn="ctr">
              <a:lnSpc>
                <a:spcPct val="100000"/>
              </a:lnSpc>
              <a:spcBef>
                <a:spcPts val="670"/>
              </a:spcBef>
            </a:pPr>
            <a:r>
              <a:rPr sz="2200" spc="-10" dirty="0">
                <a:latin typeface="Arial MT"/>
                <a:cs typeface="Arial MT"/>
              </a:rPr>
              <a:t>Affiliated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to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Savitribai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Phule</a:t>
            </a:r>
            <a:r>
              <a:rPr sz="2200" spc="-5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Pune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University(SPPU)</a:t>
            </a:r>
            <a:endParaRPr sz="22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22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750"/>
              </a:spcBef>
            </a:pPr>
            <a:endParaRPr sz="2200" dirty="0">
              <a:latin typeface="Arial MT"/>
              <a:cs typeface="Arial MT"/>
            </a:endParaRPr>
          </a:p>
          <a:p>
            <a:pPr marL="3999230">
              <a:lnSpc>
                <a:spcPct val="100000"/>
              </a:lnSpc>
            </a:pPr>
            <a:r>
              <a:rPr sz="3000" b="1" dirty="0">
                <a:latin typeface="Times New Roman" panose="02020603050405020304"/>
                <a:cs typeface="Times New Roman" panose="02020603050405020304"/>
              </a:rPr>
              <a:t>Department</a:t>
            </a:r>
            <a:r>
              <a:rPr sz="3000" b="1" spc="-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00" b="1" dirty="0">
                <a:latin typeface="Times New Roman" panose="02020603050405020304"/>
                <a:cs typeface="Times New Roman" panose="02020603050405020304"/>
              </a:rPr>
              <a:t>of</a:t>
            </a:r>
            <a:r>
              <a:rPr sz="3000" b="1" spc="-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00" b="1" spc="-20" dirty="0">
                <a:latin typeface="Times New Roman" panose="02020603050405020304"/>
                <a:cs typeface="Times New Roman" panose="02020603050405020304"/>
              </a:rPr>
              <a:t>Information</a:t>
            </a:r>
            <a:r>
              <a:rPr sz="3000" b="1" spc="-1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00" b="1" spc="-10" dirty="0">
                <a:latin typeface="Times New Roman" panose="02020603050405020304"/>
                <a:cs typeface="Times New Roman" panose="02020603050405020304"/>
              </a:rPr>
              <a:t>Technology</a:t>
            </a:r>
            <a:endParaRPr sz="3000" dirty="0">
              <a:latin typeface="Times New Roman" panose="02020603050405020304"/>
              <a:cs typeface="Times New Roman" panose="02020603050405020304"/>
            </a:endParaRPr>
          </a:p>
          <a:p>
            <a:pPr marL="5829300" marR="4937125" indent="603250">
              <a:lnSpc>
                <a:spcPct val="114000"/>
              </a:lnSpc>
              <a:spcBef>
                <a:spcPts val="55"/>
              </a:spcBef>
            </a:pPr>
            <a:r>
              <a:rPr sz="2800" dirty="0">
                <a:latin typeface="Times New Roman" panose="02020603050405020304"/>
                <a:cs typeface="Times New Roman" panose="02020603050405020304"/>
              </a:rPr>
              <a:t>Third</a:t>
            </a:r>
            <a:r>
              <a:rPr sz="2800" spc="-17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20" dirty="0">
                <a:latin typeface="Times New Roman" panose="02020603050405020304"/>
                <a:cs typeface="Times New Roman" panose="02020603050405020304"/>
              </a:rPr>
              <a:t>Year (2025-26</a:t>
            </a:r>
            <a:r>
              <a:rPr sz="2800" spc="-1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Sem</a:t>
            </a:r>
            <a:r>
              <a:rPr sz="28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–</a:t>
            </a:r>
            <a:r>
              <a:rPr sz="280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25" dirty="0">
                <a:latin typeface="Times New Roman" panose="02020603050405020304"/>
                <a:cs typeface="Times New Roman" panose="02020603050405020304"/>
              </a:rPr>
              <a:t>V)</a:t>
            </a:r>
            <a:endParaRPr lang="en-US" sz="2800" spc="-25" dirty="0">
              <a:latin typeface="Times New Roman" panose="02020603050405020304"/>
              <a:cs typeface="Times New Roman" panose="02020603050405020304"/>
            </a:endParaRPr>
          </a:p>
          <a:p>
            <a:pPr marL="5829300" marR="4937125" indent="603250">
              <a:lnSpc>
                <a:spcPct val="114000"/>
              </a:lnSpc>
              <a:spcBef>
                <a:spcPts val="55"/>
              </a:spcBef>
            </a:pPr>
            <a:endParaRPr sz="2800" dirty="0">
              <a:latin typeface="Times New Roman" panose="02020603050405020304"/>
              <a:cs typeface="Times New Roman" panose="02020603050405020304"/>
            </a:endParaRPr>
          </a:p>
          <a:p>
            <a:r>
              <a:rPr lang="en-IN" sz="1800" b="1" dirty="0"/>
              <a:t> 			</a:t>
            </a:r>
            <a:r>
              <a:rPr lang="en-IN" sz="2800" b="1" dirty="0"/>
              <a:t>Dust Detection and Maintenance Optimization for Solar PV  				Panels using CNN-RF and I-V Curve Data</a:t>
            </a:r>
            <a:endParaRPr lang="en-IN" sz="2800" dirty="0"/>
          </a:p>
          <a:p>
            <a:pPr marL="883920" algn="ctr">
              <a:lnSpc>
                <a:spcPct val="100000"/>
              </a:lnSpc>
              <a:spcBef>
                <a:spcPts val="1850"/>
              </a:spcBef>
            </a:pPr>
            <a:r>
              <a:rPr sz="2800" dirty="0">
                <a:latin typeface="Times New Roman" panose="02020603050405020304"/>
                <a:cs typeface="Times New Roman" panose="02020603050405020304"/>
              </a:rPr>
              <a:t>Course</a:t>
            </a:r>
            <a:r>
              <a:rPr sz="28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10" dirty="0">
                <a:latin typeface="Times New Roman" panose="02020603050405020304"/>
                <a:cs typeface="Times New Roman" panose="02020603050405020304"/>
              </a:rPr>
              <a:t>Name-</a:t>
            </a:r>
            <a:r>
              <a:rPr lang="en-IN" altLang="" sz="2800" dirty="0">
                <a:latin typeface="Times New Roman" panose="02020603050405020304"/>
                <a:cs typeface="Times New Roman" panose="02020603050405020304"/>
              </a:rPr>
              <a:t>Fundamentals of Digital Image Processing</a:t>
            </a:r>
          </a:p>
          <a:p>
            <a:pPr marL="883920" algn="ctr">
              <a:lnSpc>
                <a:spcPct val="100000"/>
              </a:lnSpc>
              <a:spcBef>
                <a:spcPts val="1850"/>
              </a:spcBef>
            </a:pPr>
            <a:r>
              <a:rPr sz="2800" spc="-10" dirty="0">
                <a:latin typeface="Times New Roman" panose="02020603050405020304"/>
                <a:cs typeface="Times New Roman" panose="02020603050405020304"/>
                <a:sym typeface="+mn-ea"/>
              </a:rPr>
              <a:t>Formative</a:t>
            </a:r>
            <a:r>
              <a:rPr sz="2800" spc="-16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Assessment </a:t>
            </a:r>
            <a:r>
              <a:rPr sz="2800" spc="-50" dirty="0">
                <a:latin typeface="Times New Roman" panose="02020603050405020304"/>
                <a:cs typeface="Times New Roman" panose="02020603050405020304"/>
                <a:sym typeface="+mn-ea"/>
              </a:rPr>
              <a:t>I</a:t>
            </a:r>
            <a:r>
              <a:rPr lang="en-IN" altLang="en-US" sz="2800" spc="-50" dirty="0">
                <a:latin typeface="Times New Roman" panose="02020603050405020304"/>
                <a:cs typeface="Times New Roman" panose="02020603050405020304"/>
                <a:sym typeface="+mn-ea"/>
              </a:rPr>
              <a:t>I</a:t>
            </a:r>
            <a:endParaRPr lang="en-IN" sz="2800" dirty="0">
              <a:latin typeface="Times New Roman" panose="02020603050405020304"/>
              <a:cs typeface="Times New Roman" panose="02020603050405020304"/>
            </a:endParaRPr>
          </a:p>
          <a:p>
            <a:pPr marL="2974340" marR="2091690" algn="ctr">
              <a:lnSpc>
                <a:spcPct val="120000"/>
              </a:lnSpc>
              <a:spcBef>
                <a:spcPts val="5240"/>
              </a:spcBef>
            </a:pPr>
            <a:endParaRPr lang="en-IN" altLang="en-US" sz="2800" dirty="0">
              <a:latin typeface="Times New Roman" panose="02020603050405020304"/>
              <a:cs typeface="Times New Roman" panose="02020603050405020304"/>
            </a:endParaRPr>
          </a:p>
          <a:p>
            <a:pPr marL="12700" marR="9197975">
              <a:lnSpc>
                <a:spcPct val="144000"/>
              </a:lnSpc>
              <a:spcBef>
                <a:spcPts val="3065"/>
              </a:spcBef>
              <a:tabLst>
                <a:tab pos="1355090" algn="l"/>
              </a:tabLst>
            </a:pPr>
            <a:endParaRPr lang="en-IN" altLang="en-US" sz="2800" dirty="0">
              <a:latin typeface="Times New Roman" panose="02020603050405020304"/>
              <a:cs typeface="Times New Roman" panose="02020603050405020304"/>
            </a:endParaRPr>
          </a:p>
          <a:p>
            <a:pPr marL="12700" marR="9197975">
              <a:lnSpc>
                <a:spcPct val="144000"/>
              </a:lnSpc>
              <a:spcBef>
                <a:spcPts val="3065"/>
              </a:spcBef>
              <a:tabLst>
                <a:tab pos="1355090" algn="l"/>
              </a:tabLst>
            </a:pPr>
            <a:endParaRPr lang="en-IN" altLang="en-US" sz="2800" dirty="0">
              <a:latin typeface="Times New Roman" panose="02020603050405020304"/>
              <a:cs typeface="Times New Roman" panose="02020603050405020304"/>
            </a:endParaRPr>
          </a:p>
          <a:p>
            <a:pPr marL="12700" marR="9197975">
              <a:lnSpc>
                <a:spcPct val="144000"/>
              </a:lnSpc>
              <a:spcBef>
                <a:spcPts val="3065"/>
              </a:spcBef>
              <a:tabLst>
                <a:tab pos="1355090" algn="l"/>
              </a:tabLst>
            </a:pPr>
            <a:endParaRPr lang="en-IN" altLang="en-US" sz="2800" dirty="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spc="-50" dirty="0"/>
              <a:t>1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274935" y="7277100"/>
            <a:ext cx="6503670" cy="1682115"/>
          </a:xfrm>
          <a:prstGeom prst="rect">
            <a:avLst/>
          </a:prstGeom>
        </p:spPr>
        <p:txBody>
          <a:bodyPr vert="horz" wrap="square" lIns="0" tIns="12700" rIns="0" bIns="0" rtlCol="0">
            <a:no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dirty="0">
                <a:latin typeface="Times New Roman" panose="02020603050405020304"/>
                <a:cs typeface="Times New Roman" panose="02020603050405020304"/>
              </a:rPr>
              <a:t>G</a:t>
            </a:r>
            <a:r>
              <a:rPr lang="en-IN" altLang="" sz="3000" dirty="0">
                <a:latin typeface="Times New Roman" panose="02020603050405020304"/>
                <a:cs typeface="Times New Roman" panose="02020603050405020304"/>
              </a:rPr>
              <a:t>ui</a:t>
            </a:r>
            <a:r>
              <a:rPr sz="3000" dirty="0">
                <a:latin typeface="Times New Roman" panose="02020603050405020304"/>
                <a:cs typeface="Times New Roman" panose="02020603050405020304"/>
              </a:rPr>
              <a:t>ded</a:t>
            </a:r>
            <a:r>
              <a:rPr sz="300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00" dirty="0">
                <a:latin typeface="Times New Roman" panose="02020603050405020304"/>
                <a:cs typeface="Times New Roman" panose="02020603050405020304"/>
              </a:rPr>
              <a:t>By</a:t>
            </a:r>
            <a:r>
              <a:rPr sz="300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00" dirty="0">
                <a:latin typeface="Times New Roman" panose="02020603050405020304"/>
                <a:cs typeface="Times New Roman" panose="02020603050405020304"/>
              </a:rPr>
              <a:t>:</a:t>
            </a:r>
            <a:r>
              <a:rPr sz="300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00" spc="-10" dirty="0">
                <a:latin typeface="Times New Roman" panose="02020603050405020304" charset="0"/>
                <a:cs typeface="Times New Roman" panose="02020603050405020304" charset="0"/>
              </a:rPr>
              <a:t>Dr.</a:t>
            </a:r>
            <a:r>
              <a:rPr sz="3000" spc="-4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IN" altLang="" sz="3000" spc="-40" dirty="0">
                <a:latin typeface="Times New Roman" panose="02020603050405020304" charset="0"/>
                <a:cs typeface="Times New Roman" panose="02020603050405020304" charset="0"/>
              </a:rPr>
              <a:t>Harsha Bhute</a:t>
            </a:r>
          </a:p>
        </p:txBody>
      </p:sp>
      <p:sp>
        <p:nvSpPr>
          <p:cNvPr id="5" name="object 3"/>
          <p:cNvSpPr txBox="1"/>
          <p:nvPr/>
        </p:nvSpPr>
        <p:spPr>
          <a:xfrm>
            <a:off x="2057400" y="7226300"/>
            <a:ext cx="6522720" cy="2371090"/>
          </a:xfrm>
          <a:prstGeom prst="rect">
            <a:avLst/>
          </a:prstGeom>
        </p:spPr>
        <p:txBody>
          <a:bodyPr vert="horz" wrap="square" lIns="0" tIns="12700" rIns="0" bIns="0" rtlCol="0">
            <a:no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altLang="en-US" sz="3000" spc="-40" dirty="0">
                <a:latin typeface="Times New Roman" panose="02020603050405020304"/>
                <a:cs typeface="Times New Roman" panose="02020603050405020304"/>
              </a:rPr>
              <a:t>Presented By</a:t>
            </a:r>
            <a:r>
              <a:rPr sz="300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00" dirty="0">
                <a:latin typeface="Times New Roman" panose="02020603050405020304"/>
                <a:cs typeface="Times New Roman" panose="02020603050405020304"/>
              </a:rPr>
              <a:t>:</a:t>
            </a:r>
            <a:r>
              <a:rPr sz="3000" spc="-45" dirty="0">
                <a:latin typeface="Times New Roman" panose="02020603050405020304"/>
                <a:cs typeface="Times New Roman" panose="02020603050405020304"/>
              </a:rPr>
              <a:t> 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altLang="en-US" sz="3000" dirty="0">
                <a:latin typeface="Times New Roman" panose="02020603050405020304" charset="0"/>
                <a:cs typeface="Times New Roman" panose="02020603050405020304" charset="0"/>
              </a:rPr>
              <a:t>Jai Chandegave          123B1F016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95400" y="266698"/>
            <a:ext cx="6223000" cy="9359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pc="-20" dirty="0">
                <a:latin typeface="Times New Roman" panose="02020603050405020304" charset="0"/>
                <a:cs typeface="Times New Roman" panose="02020603050405020304" charset="0"/>
              </a:rPr>
              <a:t>Aim: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ftr" sz="quarter" idx="5"/>
          </p:nvPr>
        </p:nvSpPr>
        <p:spPr>
          <a:xfrm>
            <a:off x="16778312" y="9732297"/>
            <a:ext cx="141605" cy="2317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lang="en-IN" spc="-50" dirty="0"/>
              <a:t>2</a:t>
            </a:r>
          </a:p>
        </p:txBody>
      </p:sp>
      <p:sp>
        <p:nvSpPr>
          <p:cNvPr id="5" name="Text Box 4"/>
          <p:cNvSpPr txBox="1"/>
          <p:nvPr/>
        </p:nvSpPr>
        <p:spPr>
          <a:xfrm>
            <a:off x="1739900" y="1943100"/>
            <a:ext cx="14300835" cy="146113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indent="0">
              <a:buFont typeface="Arial" panose="020B0604020202020204" pitchFamily="34" charset="0"/>
              <a:buNone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design an intelligent system using CNN-RF and I–V curve data for automatic dust detection and optimized cleaning of solar panels, improving efficiency and reducing maintenance costs.</a:t>
            </a:r>
            <a:endParaRPr lang="en-US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object 2"/>
          <p:cNvSpPr txBox="1">
            <a:spLocks noGrp="1"/>
          </p:cNvSpPr>
          <p:nvPr/>
        </p:nvSpPr>
        <p:spPr>
          <a:xfrm>
            <a:off x="1254125" y="3695698"/>
            <a:ext cx="6223000" cy="9359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6000" b="0" i="0">
                <a:solidFill>
                  <a:schemeClr val="tx1"/>
                </a:solidFill>
                <a:latin typeface="Calibri" panose="020F0502020204030204"/>
                <a:ea typeface="+mj-ea"/>
                <a:cs typeface="Calibri" panose="020F0502020204030204"/>
              </a:defRPr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pc="-20" dirty="0">
                <a:latin typeface="Times New Roman" panose="02020603050405020304" charset="0"/>
                <a:cs typeface="Times New Roman" panose="02020603050405020304" charset="0"/>
              </a:rPr>
              <a:t>Objectives:</a:t>
            </a:r>
          </a:p>
        </p:txBody>
      </p:sp>
      <p:sp>
        <p:nvSpPr>
          <p:cNvPr id="10" name="Text Box 9"/>
          <p:cNvSpPr txBox="1"/>
          <p:nvPr/>
        </p:nvSpPr>
        <p:spPr>
          <a:xfrm>
            <a:off x="1739900" y="4991100"/>
            <a:ext cx="14337665" cy="38354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develop </a:t>
            </a:r>
            <a:r>
              <a:rPr lang="en-US" sz="3000">
                <a:latin typeface="Times New Roman" panose="02020603050405020304" pitchFamily="18" charset="0"/>
                <a:cs typeface="Times New Roman" panose="02020603050405020304" pitchFamily="18" charset="0"/>
              </a:rPr>
              <a:t>a  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CNN–RF model for accurate detection of dust presence and severity on solar panels.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convert I–V curve data into RGB mosaic images for effective visual and computational analysis.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design an optimized cleaning framework based on cost–benefit analysis of dust impact versus cleaning cost.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minimize water and maintenance costs through intelligent, condition-based cleaning decisions.</a:t>
            </a:r>
            <a:endParaRPr lang="en-US" alt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27125" y="183513"/>
            <a:ext cx="6223000" cy="9359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pc="-10" dirty="0">
                <a:latin typeface="Times New Roman" panose="02020603050405020304" charset="0"/>
                <a:cs typeface="Times New Roman" panose="02020603050405020304" charset="0"/>
              </a:rPr>
              <a:t>Literature Survey</a:t>
            </a:r>
            <a:r>
              <a:rPr spc="-10" dirty="0">
                <a:latin typeface="Times New Roman" panose="02020603050405020304" charset="0"/>
                <a:cs typeface="Times New Roman" panose="02020603050405020304" charset="0"/>
              </a:rPr>
              <a:t>: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ftr" sz="quarter" idx="5"/>
          </p:nvPr>
        </p:nvSpPr>
        <p:spPr>
          <a:xfrm>
            <a:off x="16778312" y="9732297"/>
            <a:ext cx="141605" cy="2317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lang="en-IN" spc="-50" dirty="0"/>
              <a:t>3</a:t>
            </a:r>
          </a:p>
        </p:txBody>
      </p:sp>
      <p:sp>
        <p:nvSpPr>
          <p:cNvPr id="5" name="Text Box 4"/>
          <p:cNvSpPr txBox="1"/>
          <p:nvPr/>
        </p:nvSpPr>
        <p:spPr>
          <a:xfrm>
            <a:off x="1384300" y="1119503"/>
            <a:ext cx="15671800" cy="75438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endParaRPr lang="en-US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94326501"/>
              </p:ext>
            </p:extLst>
          </p:nvPr>
        </p:nvGraphicFramePr>
        <p:xfrm>
          <a:off x="1981200" y="1409698"/>
          <a:ext cx="13639800" cy="6502513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2051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147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09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09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0474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dirty="0"/>
                        <a:t>Author &amp; Year</a:t>
                      </a:r>
                    </a:p>
                  </a:txBody>
                  <a:tcPr marL="22989" marR="22989" marT="11495" marB="11495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dirty="0"/>
                        <a:t>Features</a:t>
                      </a:r>
                    </a:p>
                  </a:txBody>
                  <a:tcPr marL="22989" marR="22989" marT="11495" marB="11495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       Methodology Used</a:t>
                      </a:r>
                    </a:p>
                  </a:txBody>
                  <a:tcPr marL="22989" marR="22989" marT="11495" marB="11495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dirty="0"/>
                        <a:t>Limitations</a:t>
                      </a:r>
                    </a:p>
                  </a:txBody>
                  <a:tcPr marL="22989" marR="22989" marT="11495" marB="11495"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392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 err="1"/>
                        <a:t>Abukhait</a:t>
                      </a:r>
                      <a:r>
                        <a:rPr lang="en-IN" dirty="0"/>
                        <a:t> (2024)</a:t>
                      </a:r>
                      <a:endParaRPr lang="en-US" altLang="en-US" sz="1800" dirty="0"/>
                    </a:p>
                  </a:txBody>
                  <a:tcPr marL="22989" marR="22989" marT="11495" marB="1149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GLCM and LBP texture features extracted from visible light images</a:t>
                      </a:r>
                      <a:endParaRPr lang="en-IN" altLang="en-US" sz="1800" dirty="0"/>
                    </a:p>
                  </a:txBody>
                  <a:tcPr marL="22989" marR="22989" marT="11495" marB="1149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altLang="en-US" sz="1800" dirty="0"/>
                        <a:t> </a:t>
                      </a:r>
                      <a:r>
                        <a:rPr lang="en-US" dirty="0"/>
                        <a:t>Combined </a:t>
                      </a:r>
                      <a:r>
                        <a:rPr lang="en-US" i="1" dirty="0"/>
                        <a:t>Gray Level Co-occurrence Matrix (GLCM)</a:t>
                      </a:r>
                      <a:r>
                        <a:rPr lang="en-US" dirty="0"/>
                        <a:t> and </a:t>
                      </a:r>
                      <a:r>
                        <a:rPr lang="en-US" i="1" dirty="0"/>
                        <a:t>Local Binary Pattern (LBP)</a:t>
                      </a:r>
                      <a:r>
                        <a:rPr lang="en-US" dirty="0"/>
                        <a:t> features with </a:t>
                      </a:r>
                      <a:r>
                        <a:rPr lang="en-US" i="1" dirty="0"/>
                        <a:t>Support Vector Machine (SVM)</a:t>
                      </a:r>
                      <a:r>
                        <a:rPr lang="en-US" dirty="0"/>
                        <a:t> classifier</a:t>
                      </a:r>
                      <a:endParaRPr lang="en-US" altLang="en-US" sz="1800" dirty="0"/>
                    </a:p>
                  </a:txBody>
                  <a:tcPr marL="22989" marR="22989" marT="11495" marB="1149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Accuracy decreases under low-light conditions; lacks integration with automated cleaning or IoT systems</a:t>
                      </a:r>
                      <a:endParaRPr lang="en-US" altLang="en-US" sz="1800" dirty="0"/>
                    </a:p>
                  </a:txBody>
                  <a:tcPr marL="22989" marR="22989" marT="11495" marB="1149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168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 err="1"/>
                        <a:t>Onim</a:t>
                      </a:r>
                      <a:r>
                        <a:rPr lang="en-IN" dirty="0"/>
                        <a:t> et al. (2022)</a:t>
                      </a:r>
                      <a:endParaRPr lang="en-US" altLang="en-US" sz="1800" dirty="0"/>
                    </a:p>
                  </a:txBody>
                  <a:tcPr marL="22989" marR="22989" marT="11495" marB="1149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Image-based features from solar panel surface conditions</a:t>
                      </a:r>
                      <a:endParaRPr lang="en-US" altLang="en-US" sz="1800" dirty="0"/>
                    </a:p>
                  </a:txBody>
                  <a:tcPr marL="22989" marR="22989" marT="11495" marB="1149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altLang="en-US" sz="1800" dirty="0"/>
                        <a:t> </a:t>
                      </a:r>
                      <a:r>
                        <a:rPr lang="en-US" dirty="0"/>
                        <a:t>Developed </a:t>
                      </a:r>
                      <a:r>
                        <a:rPr lang="en-US" i="1" dirty="0" err="1"/>
                        <a:t>SolNet</a:t>
                      </a:r>
                      <a:r>
                        <a:rPr lang="en-US" dirty="0"/>
                        <a:t>, a custom </a:t>
                      </a:r>
                      <a:r>
                        <a:rPr lang="en-US" i="1" dirty="0"/>
                        <a:t>CNN</a:t>
                      </a:r>
                      <a:r>
                        <a:rPr lang="en-US" dirty="0"/>
                        <a:t> architecture for classifying clean vs. dusty panels</a:t>
                      </a:r>
                      <a:endParaRPr lang="en-US" altLang="en-US" sz="1800" dirty="0"/>
                    </a:p>
                  </a:txBody>
                  <a:tcPr marL="22989" marR="22989" marT="11495" marB="1149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Model limited to two classes (clean/dusty); does not estimate dust severity or suggest maintenance actions</a:t>
                      </a:r>
                      <a:endParaRPr lang="en-US" altLang="en-US" sz="1800" dirty="0"/>
                    </a:p>
                  </a:txBody>
                  <a:tcPr marL="22989" marR="22989" marT="11495" marB="1149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168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 err="1"/>
                        <a:t>Unluturk</a:t>
                      </a:r>
                      <a:r>
                        <a:rPr lang="en-IN" dirty="0"/>
                        <a:t> et al. (2019)</a:t>
                      </a:r>
                      <a:endParaRPr lang="en-US" altLang="en-US" sz="1800" dirty="0"/>
                    </a:p>
                  </a:txBody>
                  <a:tcPr marL="22989" marR="22989" marT="11495" marB="1149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GLCM texture features from artificial lighting experiments</a:t>
                      </a:r>
                      <a:endParaRPr lang="en-US" altLang="en-US" sz="1800" dirty="0"/>
                    </a:p>
                  </a:txBody>
                  <a:tcPr marL="22989" marR="22989" marT="11495" marB="1149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altLang="en-US" sz="1800" dirty="0"/>
                        <a:t> </a:t>
                      </a:r>
                      <a:r>
                        <a:rPr lang="en-US" dirty="0"/>
                        <a:t>Used </a:t>
                      </a:r>
                      <a:r>
                        <a:rPr lang="en-US" i="1" dirty="0"/>
                        <a:t>Artificial Neural Network (ANN)</a:t>
                      </a:r>
                      <a:r>
                        <a:rPr lang="en-US" dirty="0"/>
                        <a:t> to estimate dust accumulation levels (three categories)</a:t>
                      </a:r>
                      <a:endParaRPr lang="en-US" altLang="en-US" sz="1800" dirty="0"/>
                    </a:p>
                  </a:txBody>
                  <a:tcPr marL="22989" marR="22989" marT="11495" marB="1149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Performance validated only in laboratory settings; lacks real-world environmental testing</a:t>
                      </a:r>
                      <a:endParaRPr lang="en-US" altLang="en-US" sz="1800" dirty="0"/>
                    </a:p>
                  </a:txBody>
                  <a:tcPr marL="22989" marR="22989" marT="11495" marB="11495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248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Bashir et al. (2025)</a:t>
                      </a:r>
                      <a:endParaRPr lang="en-US" altLang="en-US" sz="1800" dirty="0"/>
                    </a:p>
                  </a:txBody>
                  <a:tcPr marL="22989" marR="22989" marT="11495" marB="1149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RGB mosaic images generated from I–V curve data</a:t>
                      </a:r>
                      <a:endParaRPr lang="en-US" altLang="en-US" sz="1800" dirty="0"/>
                    </a:p>
                  </a:txBody>
                  <a:tcPr marL="22989" marR="22989" marT="11495" marB="1149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Proposed hybrid </a:t>
                      </a:r>
                      <a:r>
                        <a:rPr lang="en-US" i="1" dirty="0"/>
                        <a:t>CNN–RF</a:t>
                      </a:r>
                      <a:r>
                        <a:rPr lang="en-US" dirty="0"/>
                        <a:t> system for state classification and dust severity detection; included cleaning optimization </a:t>
                      </a:r>
                      <a:r>
                        <a:rPr lang="en-US" dirty="0" err="1"/>
                        <a:t>framewor</a:t>
                      </a:r>
                      <a:endParaRPr lang="en-US" altLang="en-US" sz="1800" dirty="0"/>
                    </a:p>
                  </a:txBody>
                  <a:tcPr marL="22989" marR="22989" marT="11495" marB="1149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Requires high computational resources; model yet to be tested extensively on large-scale solar farms</a:t>
                      </a:r>
                      <a:endParaRPr lang="en-US" altLang="en-US" sz="1800" dirty="0"/>
                    </a:p>
                  </a:txBody>
                  <a:tcPr marL="22989" marR="22989" marT="11495" marB="11495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35" y="38098"/>
            <a:ext cx="18288000" cy="10283190"/>
            <a:chOff x="0" y="3808"/>
            <a:chExt cx="18288000" cy="1028319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5506" y="3810"/>
              <a:ext cx="18212493" cy="10283188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3808"/>
              <a:ext cx="803275" cy="10283190"/>
            </a:xfrm>
            <a:custGeom>
              <a:avLst/>
              <a:gdLst/>
              <a:ahLst/>
              <a:cxnLst/>
              <a:rect l="l" t="t" r="r" b="b"/>
              <a:pathLst>
                <a:path w="803275" h="10283190">
                  <a:moveTo>
                    <a:pt x="803148" y="10282998"/>
                  </a:moveTo>
                  <a:lnTo>
                    <a:pt x="0" y="10282998"/>
                  </a:lnTo>
                  <a:lnTo>
                    <a:pt x="0" y="0"/>
                  </a:lnTo>
                  <a:lnTo>
                    <a:pt x="803148" y="0"/>
                  </a:lnTo>
                  <a:lnTo>
                    <a:pt x="803148" y="10282998"/>
                  </a:lnTo>
                  <a:close/>
                </a:path>
              </a:pathLst>
            </a:custGeom>
            <a:solidFill>
              <a:srgbClr val="583C8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127125" y="183513"/>
            <a:ext cx="6223000" cy="9359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pc="-40" dirty="0">
                <a:latin typeface="Times New Roman" panose="02020603050405020304" charset="0"/>
                <a:cs typeface="Times New Roman" panose="02020603050405020304" charset="0"/>
              </a:rPr>
              <a:t>Methodology</a:t>
            </a:r>
            <a:r>
              <a:rPr spc="-40" dirty="0">
                <a:latin typeface="Times New Roman" panose="02020603050405020304" charset="0"/>
                <a:cs typeface="Times New Roman" panose="02020603050405020304" charset="0"/>
              </a:rPr>
              <a:t>: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6778312" y="9675147"/>
            <a:ext cx="141605" cy="289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altLang="" sz="1800">
                <a:latin typeface="Calibri" panose="020F0502020204030204"/>
                <a:cs typeface="Calibri" panose="020F0502020204030204"/>
              </a:rPr>
              <a:t>4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body" idx="1"/>
          </p:nvPr>
        </p:nvSpPr>
        <p:spPr>
          <a:xfrm>
            <a:off x="2085100" y="1714482"/>
            <a:ext cx="14493875" cy="24743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6000"/>
              </a:lnSpc>
              <a:spcBef>
                <a:spcPts val="100"/>
              </a:spcBef>
            </a:pPr>
            <a:endParaRPr lang="en-US" dirty="0"/>
          </a:p>
          <a:p>
            <a:pPr marL="12700" marR="5080">
              <a:lnSpc>
                <a:spcPct val="126000"/>
              </a:lnSpc>
              <a:spcBef>
                <a:spcPts val="100"/>
              </a:spcBef>
            </a:pPr>
            <a:endParaRPr lang="en-US" altLang="en-US" spc="-1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12700" marR="5080">
              <a:lnSpc>
                <a:spcPct val="126000"/>
              </a:lnSpc>
              <a:spcBef>
                <a:spcPts val="100"/>
              </a:spcBef>
            </a:pPr>
            <a:endParaRPr lang="en-US" altLang="en-US" spc="-1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12700" marR="5080">
              <a:lnSpc>
                <a:spcPct val="126000"/>
              </a:lnSpc>
              <a:spcBef>
                <a:spcPts val="100"/>
              </a:spcBef>
            </a:pPr>
            <a:endParaRPr lang="en-US" altLang="en-US" spc="-1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436370" y="5448300"/>
            <a:ext cx="648970" cy="452755"/>
          </a:xfrm>
          <a:prstGeom prst="rect">
            <a:avLst/>
          </a:prstGeom>
        </p:spPr>
        <p:txBody>
          <a:bodyPr vert="horz" wrap="square" lIns="0" tIns="12700" rIns="0" bIns="0" rtlCol="0">
            <a:no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endParaRPr sz="3200" dirty="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825A0D3-CC5E-F752-A7A4-02BB1E514684}"/>
              </a:ext>
            </a:extLst>
          </p:cNvPr>
          <p:cNvSpPr txBox="1"/>
          <p:nvPr/>
        </p:nvSpPr>
        <p:spPr>
          <a:xfrm>
            <a:off x="1760855" y="1687849"/>
            <a:ext cx="15403710" cy="54476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Collection: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Gather I–V curve data and operational measurements from solar panels under various environmental and fault conditions.</a:t>
            </a:r>
          </a:p>
          <a:p>
            <a:b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 </a:t>
            </a: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Transformation: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Convert numerical I–V data into RGB mosaic images for visual and  	feature-rich representation.</a:t>
            </a:r>
          </a:p>
          <a:p>
            <a:b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 </a:t>
            </a: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Extraction &amp; Classification: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 a CNN to extract spatial features and Random 	Forest for classification of panel state and dust severity.</a:t>
            </a:r>
          </a:p>
          <a:p>
            <a:b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 </a:t>
            </a: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Cleaning Optimization: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Implement a cost-benefit decision model to evaluate when cleaning 	should be performed.</a:t>
            </a:r>
            <a:br>
              <a:rPr lang="en-US" dirty="0"/>
            </a:br>
            <a:endParaRPr lang="en-IN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3808"/>
            <a:ext cx="18288000" cy="10283190"/>
            <a:chOff x="0" y="3808"/>
            <a:chExt cx="18288000" cy="1028319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5506" y="3810"/>
              <a:ext cx="18212493" cy="10283188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3808"/>
              <a:ext cx="803275" cy="10283190"/>
            </a:xfrm>
            <a:custGeom>
              <a:avLst/>
              <a:gdLst/>
              <a:ahLst/>
              <a:cxnLst/>
              <a:rect l="l" t="t" r="r" b="b"/>
              <a:pathLst>
                <a:path w="803275" h="10283190">
                  <a:moveTo>
                    <a:pt x="803148" y="10282998"/>
                  </a:moveTo>
                  <a:lnTo>
                    <a:pt x="0" y="10282998"/>
                  </a:lnTo>
                  <a:lnTo>
                    <a:pt x="0" y="0"/>
                  </a:lnTo>
                  <a:lnTo>
                    <a:pt x="803148" y="0"/>
                  </a:lnTo>
                  <a:lnTo>
                    <a:pt x="803148" y="10282998"/>
                  </a:lnTo>
                  <a:close/>
                </a:path>
              </a:pathLst>
            </a:custGeom>
            <a:solidFill>
              <a:srgbClr val="583C8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990600" y="342898"/>
            <a:ext cx="6223000" cy="9359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pc="-40" dirty="0">
                <a:latin typeface="Times New Roman" panose="02020603050405020304" charset="0"/>
                <a:cs typeface="Times New Roman" panose="02020603050405020304" charset="0"/>
              </a:rPr>
              <a:t>Output</a:t>
            </a:r>
            <a:r>
              <a:rPr spc="-40" dirty="0">
                <a:latin typeface="Times New Roman" panose="02020603050405020304" charset="0"/>
                <a:cs typeface="Times New Roman" panose="02020603050405020304" charset="0"/>
              </a:rPr>
              <a:t>: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6778312" y="9675147"/>
            <a:ext cx="141605" cy="289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altLang="" sz="1800">
                <a:latin typeface="Calibri" panose="020F0502020204030204"/>
                <a:cs typeface="Calibri" panose="020F0502020204030204"/>
              </a:rPr>
              <a:t>5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body" idx="1"/>
          </p:nvPr>
        </p:nvSpPr>
        <p:spPr>
          <a:xfrm>
            <a:off x="1144270" y="1439545"/>
            <a:ext cx="16831310" cy="7966710"/>
          </a:xfrm>
          <a:prstGeom prst="rect">
            <a:avLst/>
          </a:prstGeom>
        </p:spPr>
        <p:txBody>
          <a:bodyPr vert="horz" wrap="square" lIns="0" tIns="12700" rIns="0" bIns="0" rtlCol="0">
            <a:noAutofit/>
          </a:bodyPr>
          <a:lstStyle/>
          <a:p>
            <a:pPr marL="12700" marR="5080" indent="0">
              <a:lnSpc>
                <a:spcPct val="126000"/>
              </a:lnSpc>
              <a:spcBef>
                <a:spcPts val="100"/>
              </a:spcBef>
              <a:buFont typeface="Arial" panose="020B0604020202020204" pitchFamily="34" charset="0"/>
              <a:buNone/>
            </a:pPr>
            <a:endParaRPr lang="en-US" altLang="en-US" sz="2400" spc="-1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12700" marR="5080" indent="0">
              <a:lnSpc>
                <a:spcPct val="126000"/>
              </a:lnSpc>
              <a:spcBef>
                <a:spcPts val="100"/>
              </a:spcBef>
              <a:buFont typeface="Arial" panose="020B0604020202020204" pitchFamily="34" charset="0"/>
              <a:buNone/>
            </a:pPr>
            <a:endParaRPr lang="en-US" altLang="en-US" sz="2400" spc="-1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2EB1B66-6069-294B-8C47-9C5B8B78D9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0150" y="1705628"/>
            <a:ext cx="4270650" cy="610682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6F81E9FE-BDE0-F098-5E19-F2D67F646E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58200" y="1944009"/>
            <a:ext cx="7020905" cy="563006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3808"/>
            <a:ext cx="18288000" cy="10283190"/>
            <a:chOff x="0" y="3808"/>
            <a:chExt cx="18288000" cy="1028319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5506" y="3810"/>
              <a:ext cx="18212493" cy="10283188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3808"/>
              <a:ext cx="803275" cy="10283190"/>
            </a:xfrm>
            <a:custGeom>
              <a:avLst/>
              <a:gdLst/>
              <a:ahLst/>
              <a:cxnLst/>
              <a:rect l="l" t="t" r="r" b="b"/>
              <a:pathLst>
                <a:path w="803275" h="10283190">
                  <a:moveTo>
                    <a:pt x="803148" y="10282998"/>
                  </a:moveTo>
                  <a:lnTo>
                    <a:pt x="0" y="10282998"/>
                  </a:lnTo>
                  <a:lnTo>
                    <a:pt x="0" y="0"/>
                  </a:lnTo>
                  <a:lnTo>
                    <a:pt x="803148" y="0"/>
                  </a:lnTo>
                  <a:lnTo>
                    <a:pt x="803148" y="10282998"/>
                  </a:lnTo>
                  <a:close/>
                </a:path>
              </a:pathLst>
            </a:custGeom>
            <a:solidFill>
              <a:srgbClr val="583C8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990600" y="342898"/>
            <a:ext cx="6223000" cy="9359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pc="-40" dirty="0">
                <a:latin typeface="Times New Roman" panose="02020603050405020304" charset="0"/>
                <a:cs typeface="Times New Roman" panose="02020603050405020304" charset="0"/>
              </a:rPr>
              <a:t>Conclusion</a:t>
            </a:r>
            <a:r>
              <a:rPr spc="-40" dirty="0">
                <a:latin typeface="Times New Roman" panose="02020603050405020304" charset="0"/>
                <a:cs typeface="Times New Roman" panose="02020603050405020304" charset="0"/>
              </a:rPr>
              <a:t>: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6778312" y="9675147"/>
            <a:ext cx="141605" cy="289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altLang="" sz="1800">
                <a:latin typeface="Calibri" panose="020F0502020204030204"/>
                <a:cs typeface="Calibri" panose="020F0502020204030204"/>
              </a:rPr>
              <a:t>6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body" idx="1"/>
          </p:nvPr>
        </p:nvSpPr>
        <p:spPr>
          <a:xfrm>
            <a:off x="1295160" y="2247882"/>
            <a:ext cx="14493875" cy="19825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developed CNN–RF-based system efficiently detects dust and its severity on solar panels using RGB mosaic images. It optimizes cleaning schedules through a cost-benefit framework, reducing water and maintenance costs while improving energy efficiency and supporting sustainable solar operations.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935*654"/>
  <p:tag name="TABLE_ENDDRAG_RECT" val="156*111*935*654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563C1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</TotalTime>
  <Words>540</Words>
  <Application>Microsoft Office PowerPoint</Application>
  <PresentationFormat>Custom</PresentationFormat>
  <Paragraphs>60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Arial MT</vt:lpstr>
      <vt:lpstr>Calibri</vt:lpstr>
      <vt:lpstr>Times New Roman</vt:lpstr>
      <vt:lpstr>Office Theme</vt:lpstr>
      <vt:lpstr>PowerPoint Presentation</vt:lpstr>
      <vt:lpstr>Aim:</vt:lpstr>
      <vt:lpstr>Literature Survey:</vt:lpstr>
      <vt:lpstr>Methodology:</vt:lpstr>
      <vt:lpstr>Output:</vt:lpstr>
      <vt:lpstr>Conclusion: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TY IT -B - 2025-26 Sample FA PPT format.pptx</dc:title>
  <dc:creator/>
  <cp:lastModifiedBy>Jai Chandegave</cp:lastModifiedBy>
  <cp:revision>9</cp:revision>
  <dcterms:created xsi:type="dcterms:W3CDTF">2025-08-18T18:23:00Z</dcterms:created>
  <dcterms:modified xsi:type="dcterms:W3CDTF">2025-10-09T07:07:18Z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2025-08-18T16:30:00Z</vt:filetime>
  </property>
  <property fmtid="{D5CDD505-2E9C-101B-9397-08002B2CF9AE}" pid="3" name="Creator">
    <vt:lpwstr>Google</vt:lpwstr>
  </property>
  <property fmtid="{D5CDD505-2E9C-101B-9397-08002B2CF9AE}" pid="4" name="LastSaved">
    <vt:filetime>2025-08-18T16:30:00Z</vt:filetime>
  </property>
  <property fmtid="{D5CDD505-2E9C-101B-9397-08002B2CF9AE}" pid="5" name="ICV">
    <vt:lpwstr>BD718F1812B943D3BC6C3FAEC57AF89E_13</vt:lpwstr>
  </property>
  <property fmtid="{D5CDD505-2E9C-101B-9397-08002B2CF9AE}" pid="6" name="KSOProductBuildVer">
    <vt:lpwstr>1033-12.2.0.22549</vt:lpwstr>
  </property>
</Properties>
</file>